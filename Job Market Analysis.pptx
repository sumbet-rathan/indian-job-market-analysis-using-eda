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480" r:id="rId1"/>
  </p:sldMasterIdLst>
  <p:notesMasterIdLst>
    <p:notesMasterId r:id="rId23"/>
  </p:notesMasterIdLst>
  <p:sldIdLst>
    <p:sldId id="256" r:id="rId2"/>
    <p:sldId id="258" r:id="rId3"/>
    <p:sldId id="257" r:id="rId4"/>
    <p:sldId id="259" r:id="rId5"/>
    <p:sldId id="279" r:id="rId6"/>
    <p:sldId id="260" r:id="rId7"/>
    <p:sldId id="266" r:id="rId8"/>
    <p:sldId id="261" r:id="rId9"/>
    <p:sldId id="275" r:id="rId10"/>
    <p:sldId id="267" r:id="rId11"/>
    <p:sldId id="276" r:id="rId12"/>
    <p:sldId id="268" r:id="rId13"/>
    <p:sldId id="277" r:id="rId14"/>
    <p:sldId id="269" r:id="rId15"/>
    <p:sldId id="278" r:id="rId16"/>
    <p:sldId id="280" r:id="rId17"/>
    <p:sldId id="270" r:id="rId18"/>
    <p:sldId id="271" r:id="rId19"/>
    <p:sldId id="274" r:id="rId20"/>
    <p:sldId id="272" r:id="rId21"/>
    <p:sldId id="273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Lato" panose="020B060402020202020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FZNLy7VrmzMUnV+DgTRByhq0C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1A357B-1C2E-4AB7-AF44-19BFE332B9EA}">
  <a:tblStyle styleId="{EB1A357B-1C2E-4AB7-AF44-19BFE332B9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CD7D9F-2E0E-4F86-B977-AA6FA92E1AB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38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0b2cc6d2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g3e0b2cc6d2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0b2cc6d2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e0b2cc6d2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0b2cc6d2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0b2cc6d2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0b2cc6d2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e0b2cc6d2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9954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F09F-5131-47A7-99A4-B80886AC5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64F72-B513-4E11-BCD9-82F717EAD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7411F-A9D6-4191-A338-C1D5DC58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CE95C-CCE4-4833-85E5-E33A1EEE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8B17D-6EBB-41E8-A99C-7CF2E80B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1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CB13-4093-4292-8F76-D40C4ACB4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90E7-86FA-42D4-BD87-E8DD6F5F4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516B2-51FC-4F78-80E5-982076305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4840D-9EA8-49F2-AD8C-B5A3582A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BD9CB-1825-480C-BA08-C1904853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975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B7CB-EE8A-4E40-B079-A4C0639E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DCB06-C33E-463A-AC62-7B248F622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CBC9E-FF54-49D6-8705-AB20D8E1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EEAE2-0CEF-434A-BD50-BF54889A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89A28-5372-45EF-A501-43C230760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10A6-88B9-426A-A28C-0EA80FF0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D9A1-290E-493C-80FE-B0CF20D19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111D9-FFA6-499D-92AC-67BE0F78D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6408-9D7A-4E4A-932E-D05FB09C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F637F-85FE-4648-BDD3-109ADADF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98693-84D1-4CD1-8425-9EAACB5E8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429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7334-45CF-4B1E-9844-93B9F71D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3F9A1-715C-457F-B372-47110EA39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16072-811F-4E16-A078-507029902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0CB75-9F59-4FCE-84E1-FDD114F63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F5BDB-9074-48D3-8033-A7C695394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2DBBD-D1A7-44AF-BEDE-0BA8B25A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C3E1C-7592-438C-A525-036927F8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E3F34-EB9A-40C6-A4FD-4F924590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132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0D58-8F43-47F8-9B4E-06BB9805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3078A-DEDC-4CC6-9145-2F28FD50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CAC9F-1AB0-43A4-825B-CB7594337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676C1-E890-4D7F-8E2C-1060498D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5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71669-4039-4404-A773-903A5E33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0FEDF-AEC1-4C6A-B5A2-82EE9634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4332C-A3E1-40A4-89A8-1695272C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0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8FB6-011B-4BDD-8E39-D287E5151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6CB5-7B48-47F7-849D-B1D5864D8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023EC-38A3-4AD6-9047-589AB85E7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270F7-6F57-4310-B80C-0EFD96863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7D492-84CB-4041-8FA6-1E3B92BB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1628B-F298-4674-8344-A09D129C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235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431A-ECAC-490B-B087-1A4C70C6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0C1C43-0E94-4038-B515-8AEBCDE20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41640-542A-4FAA-A2A8-A9FE3DCF6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66CD1-BA84-4EBA-9A0F-AD4DE36C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24A85-BD6B-401F-9ACF-12D9370D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95773-1470-4498-9323-39364A5E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308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26EE-EED7-4C25-A714-A5018264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5BBEE-F09E-483B-BAA4-4F0ADC7D6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FD1DE-537B-47DD-8E2A-491DD4BD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6706A-7F7B-4123-A8A9-2A9B365F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BEF16-E14C-4339-B036-7471F1ED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882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3C747D-A12E-4179-B3D4-51478061C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D156D-FB95-45F8-8F21-F057ABA42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B7788-CFEE-43B0-9B0D-D73E7F59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69A96-3862-4D65-92EA-93D20183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A1AE6-DC95-4E1F-83C9-4BBA9CEB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5449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598F0-837C-41E2-A213-907A7D7A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CD2A1-D6EA-466D-8559-CB63EA341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5FB9C-20D6-4DC5-B984-7A94B2FD3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EC716-AFC0-4423-9029-032D59E30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A036D-BDAC-46E7-A6AB-3B21818D7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8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1" r:id="rId1"/>
    <p:sldLayoutId id="2147484482" r:id="rId2"/>
    <p:sldLayoutId id="2147484483" r:id="rId3"/>
    <p:sldLayoutId id="2147484484" r:id="rId4"/>
    <p:sldLayoutId id="2147484485" r:id="rId5"/>
    <p:sldLayoutId id="2147484486" r:id="rId6"/>
    <p:sldLayoutId id="2147484487" r:id="rId7"/>
    <p:sldLayoutId id="2147484488" r:id="rId8"/>
    <p:sldLayoutId id="2147484489" r:id="rId9"/>
    <p:sldLayoutId id="2147484490" r:id="rId10"/>
    <p:sldLayoutId id="21474844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`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7162"/>
            <a:ext cx="12192000" cy="73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 flipH="1">
            <a:off x="1524000" y="3714750"/>
            <a:ext cx="914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Naukri Job Market Analysis</a:t>
            </a:r>
            <a:endParaRPr dirty="0"/>
          </a:p>
        </p:txBody>
      </p:sp>
      <p:sp>
        <p:nvSpPr>
          <p:cNvPr id="88" name="Google Shape;88;p1"/>
          <p:cNvSpPr txBox="1"/>
          <p:nvPr/>
        </p:nvSpPr>
        <p:spPr>
          <a:xfrm flipH="1">
            <a:off x="7961100" y="4999829"/>
            <a:ext cx="42309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Presented by - </a:t>
            </a:r>
            <a:r>
              <a:rPr lang="en-US" sz="18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K Tejaswi</a:t>
            </a:r>
            <a:endParaRPr sz="1800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Batch No. 493</a:t>
            </a:r>
            <a:endParaRPr sz="1800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8082458" y="412319"/>
            <a:ext cx="185820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Agenda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863205" y="3830717"/>
            <a:ext cx="677039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Understanding and reducing customer churn">
            <a:extLst>
              <a:ext uri="{FF2B5EF4-FFF2-40B4-BE49-F238E27FC236}">
                <a16:creationId xmlns:a16="http://schemas.microsoft.com/office/drawing/2014/main" id="{A5222A21-4C97-4214-8C2D-BED10CDFFC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Understanding and reducing customer churn">
            <a:extLst>
              <a:ext uri="{FF2B5EF4-FFF2-40B4-BE49-F238E27FC236}">
                <a16:creationId xmlns:a16="http://schemas.microsoft.com/office/drawing/2014/main" id="{F0A06821-080C-4EDF-9D8B-D8ECC629CD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63F64E0-6C25-4A21-B736-050A89AD4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2458" y="230349"/>
            <a:ext cx="3254674" cy="6092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Process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</a:t>
            </a:r>
          </a:p>
        </p:txBody>
      </p:sp>
      <p:pic>
        <p:nvPicPr>
          <p:cNvPr id="1031" name="Picture 7" descr="Searching Job Market Trends, Career Analysis, and Employment Growth Forecast 2d flat vector illustration">
            <a:extLst>
              <a:ext uri="{FF2B5EF4-FFF2-40B4-BE49-F238E27FC236}">
                <a16:creationId xmlns:a16="http://schemas.microsoft.com/office/drawing/2014/main" id="{C9654CA3-EBD5-4DC4-9368-D8C46437E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43" y="673909"/>
            <a:ext cx="6981399" cy="5540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888543" y="500969"/>
            <a:ext cx="399801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Business Problem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88543" y="3612037"/>
            <a:ext cx="102108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F13193-C72D-418A-A813-0AAD26A32B90}"/>
              </a:ext>
            </a:extLst>
          </p:cNvPr>
          <p:cNvSpPr/>
          <p:nvPr/>
        </p:nvSpPr>
        <p:spPr>
          <a:xfrm>
            <a:off x="888543" y="1183190"/>
            <a:ext cx="10006818" cy="3269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current job market trends manually is difficult due to the large volume of job postings available on recruitment platforms.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web scraping and data analysis to: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job market data,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hiring trends,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salary patterns,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uncover insights related to skills, experience, and locations.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510773" y="785649"/>
            <a:ext cx="388683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 Project Objective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45282" y="1308829"/>
            <a:ext cx="5104293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lvl="0">
              <a:lnSpc>
                <a:spcPct val="200000"/>
              </a:lnSpc>
              <a:buClr>
                <a:schemeClr val="dk1"/>
              </a:buClr>
              <a:buSzPts val="1800"/>
            </a:pPr>
            <a:endParaRPr lang="en-US" sz="1800" dirty="0">
              <a:solidFill>
                <a:schemeClr val="tx2">
                  <a:lumMod val="10000"/>
                </a:schemeClr>
              </a:solidFill>
            </a:endParaRPr>
          </a:p>
          <a:p>
            <a:pPr marL="114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sz="1800" dirty="0">
              <a:solidFill>
                <a:schemeClr val="dk1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F4C625-14D6-483A-A724-FB5821966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25" y="-634139"/>
            <a:ext cx="10303234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6E8E2C-27CA-4A23-AB30-BA87D9D4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846" y="1046470"/>
            <a:ext cx="4147289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job listings using Selenium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cleaning &amp; preprocessing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salary distribution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experience requirements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top hiring locations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Discover in-demand skills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statistical analysis </a:t>
            </a:r>
          </a:p>
        </p:txBody>
      </p:sp>
      <p:pic>
        <p:nvPicPr>
          <p:cNvPr id="2051" name="Picture 3" descr="Exploratory Data Analysis (EDA): The Gateway to Data Mastery | by Excel Skills Academy | Dec, 2025 | Medium">
            <a:extLst>
              <a:ext uri="{FF2B5EF4-FFF2-40B4-BE49-F238E27FC236}">
                <a16:creationId xmlns:a16="http://schemas.microsoft.com/office/drawing/2014/main" id="{A78818B2-B023-4AE5-BFB5-DCFE41ECE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497" y="1046470"/>
            <a:ext cx="6294632" cy="4439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510773" y="785649"/>
            <a:ext cx="388683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 Tools Used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45282" y="1308829"/>
            <a:ext cx="5104293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lvl="0">
              <a:lnSpc>
                <a:spcPct val="200000"/>
              </a:lnSpc>
              <a:buClr>
                <a:schemeClr val="dk1"/>
              </a:buClr>
              <a:buSzPts val="1800"/>
            </a:pPr>
            <a:endParaRPr lang="en-US" sz="1800" dirty="0">
              <a:solidFill>
                <a:schemeClr val="tx2">
                  <a:lumMod val="10000"/>
                </a:schemeClr>
              </a:solidFill>
            </a:endParaRPr>
          </a:p>
          <a:p>
            <a:pPr marL="114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sz="1800" dirty="0">
              <a:solidFill>
                <a:schemeClr val="dk1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F4C625-14D6-483A-A724-FB5821966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25" y="-634139"/>
            <a:ext cx="10303234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52DA709-75C5-483A-8348-CC9691D20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057224"/>
              </p:ext>
            </p:extLst>
          </p:nvPr>
        </p:nvGraphicFramePr>
        <p:xfrm>
          <a:off x="1682719" y="1308829"/>
          <a:ext cx="8128000" cy="5208456"/>
        </p:xfrm>
        <a:graphic>
          <a:graphicData uri="http://schemas.openxmlformats.org/drawingml/2006/table">
            <a:tbl>
              <a:tblPr firstRow="1" bandRow="1">
                <a:tableStyleId>{EB1A357B-1C2E-4AB7-AF44-19BFE332B9EA}</a:tableStyleId>
              </a:tblPr>
              <a:tblGrid>
                <a:gridCol w="3845884">
                  <a:extLst>
                    <a:ext uri="{9D8B030D-6E8A-4147-A177-3AD203B41FA5}">
                      <a16:colId xmlns:a16="http://schemas.microsoft.com/office/drawing/2014/main" val="1750645808"/>
                    </a:ext>
                  </a:extLst>
                </a:gridCol>
                <a:gridCol w="4282116">
                  <a:extLst>
                    <a:ext uri="{9D8B030D-6E8A-4147-A177-3AD203B41FA5}">
                      <a16:colId xmlns:a16="http://schemas.microsoft.com/office/drawing/2014/main" val="2997482071"/>
                    </a:ext>
                  </a:extLst>
                </a:gridCol>
              </a:tblGrid>
              <a:tr h="6510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787533"/>
                  </a:ext>
                </a:extLst>
              </a:tr>
              <a:tr h="6510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186854"/>
                  </a:ext>
                </a:extLst>
              </a:tr>
              <a:tr h="6510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Selenium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Scraping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138832"/>
                  </a:ext>
                </a:extLst>
              </a:tr>
              <a:tr h="6510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79817"/>
                  </a:ext>
                </a:extLst>
              </a:tr>
              <a:tr h="6510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0239"/>
                  </a:ext>
                </a:extLst>
              </a:tr>
              <a:tr h="6510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388428"/>
                  </a:ext>
                </a:extLst>
              </a:tr>
              <a:tr h="6510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Seaborn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Charts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599851"/>
                  </a:ext>
                </a:extLst>
              </a:tr>
              <a:tr h="6510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Jupyter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068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564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प्रोजेक्ट फ्लो इनफोग्राफिक">
            <a:extLst>
              <a:ext uri="{FF2B5EF4-FFF2-40B4-BE49-F238E27FC236}">
                <a16:creationId xmlns:a16="http://schemas.microsoft.com/office/drawing/2014/main" id="{D83FC6CF-F7F4-4CC6-91DE-85EE674C35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प्रोजेक्ट फ्लो इनफोग्राफिक">
            <a:extLst>
              <a:ext uri="{FF2B5EF4-FFF2-40B4-BE49-F238E27FC236}">
                <a16:creationId xmlns:a16="http://schemas.microsoft.com/office/drawing/2014/main" id="{0EC01180-5CA4-437C-90BB-58C9E25640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प्रोजेक्ट फ्लो इनफोग्राफिक">
            <a:extLst>
              <a:ext uri="{FF2B5EF4-FFF2-40B4-BE49-F238E27FC236}">
                <a16:creationId xmlns:a16="http://schemas.microsoft.com/office/drawing/2014/main" id="{20082237-2282-4154-BE2F-ED03E22B85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8117" y="1392702"/>
            <a:ext cx="7090117" cy="622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79E0DB-132E-4451-A7F5-23B1121EFA66}"/>
              </a:ext>
            </a:extLst>
          </p:cNvPr>
          <p:cNvSpPr/>
          <p:nvPr/>
        </p:nvSpPr>
        <p:spPr>
          <a:xfrm>
            <a:off x="9257265" y="1284054"/>
            <a:ext cx="6096000" cy="42898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Naukri Job Portal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Name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Posted Days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C8035-D4BC-4965-9783-662522E6F452}"/>
              </a:ext>
            </a:extLst>
          </p:cNvPr>
          <p:cNvSpPr/>
          <p:nvPr/>
        </p:nvSpPr>
        <p:spPr>
          <a:xfrm>
            <a:off x="884298" y="464708"/>
            <a:ext cx="38057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Process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D1AD4D-3BE5-47B0-9CBA-0EB2282C8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76" y="1138780"/>
            <a:ext cx="8539090" cy="51592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659422" y="320498"/>
            <a:ext cx="719070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 Process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181" name="Google Shape;181;p10"/>
          <p:cNvSpPr/>
          <p:nvPr/>
        </p:nvSpPr>
        <p:spPr>
          <a:xfrm>
            <a:off x="504420" y="3398452"/>
            <a:ext cx="3983174" cy="179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20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55006094-73AE-42E6-AE1A-88C8037C5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72CC01-8042-45D2-86EB-1C22C369E773}"/>
              </a:ext>
            </a:extLst>
          </p:cNvPr>
          <p:cNvSpPr/>
          <p:nvPr/>
        </p:nvSpPr>
        <p:spPr>
          <a:xfrm>
            <a:off x="874779" y="796703"/>
            <a:ext cx="10751719" cy="5230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salary formats and created new columns using the salary column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experience ranges and created new columns using it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data types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outliers, most of them are False outliers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 the duplicates, because repeated job postings were observed due to reposting and sponsored listings on the job portal. Exact duplicates were retained to preserve real-world job demand frequency.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e0b2cc6d2f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e0b2cc6d2f_0_6"/>
          <p:cNvSpPr txBox="1"/>
          <p:nvPr/>
        </p:nvSpPr>
        <p:spPr>
          <a:xfrm>
            <a:off x="779929" y="474693"/>
            <a:ext cx="9439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Dataset Overview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Google Shape;125;g3e0b2cc6d2f_0_6"/>
          <p:cNvSpPr txBox="1"/>
          <p:nvPr/>
        </p:nvSpPr>
        <p:spPr>
          <a:xfrm>
            <a:off x="1021475" y="2105850"/>
            <a:ext cx="3005700" cy="12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800" b="1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D895D3A9-52E7-438D-B515-E63A8D8CDC6B}"/>
              </a:ext>
            </a:extLst>
          </p:cNvPr>
          <p:cNvSpPr/>
          <p:nvPr/>
        </p:nvSpPr>
        <p:spPr>
          <a:xfrm>
            <a:off x="3458431" y="3270833"/>
            <a:ext cx="5275138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E9F8061F-D8FC-4811-9A8F-1985DD63FC6B}"/>
              </a:ext>
            </a:extLst>
          </p:cNvPr>
          <p:cNvSpPr/>
          <p:nvPr/>
        </p:nvSpPr>
        <p:spPr>
          <a:xfrm>
            <a:off x="3610831" y="3423233"/>
            <a:ext cx="5275138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33">
            <a:extLst>
              <a:ext uri="{FF2B5EF4-FFF2-40B4-BE49-F238E27FC236}">
                <a16:creationId xmlns:a16="http://schemas.microsoft.com/office/drawing/2014/main" id="{3E632D5C-DAE6-4E77-8870-CDADE41845C4}"/>
              </a:ext>
            </a:extLst>
          </p:cNvPr>
          <p:cNvSpPr/>
          <p:nvPr/>
        </p:nvSpPr>
        <p:spPr>
          <a:xfrm>
            <a:off x="3763231" y="3575633"/>
            <a:ext cx="5275138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8D2CD7-C488-4C21-9C33-F1E8915A3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066630"/>
              </p:ext>
            </p:extLst>
          </p:nvPr>
        </p:nvGraphicFramePr>
        <p:xfrm>
          <a:off x="2897255" y="4570604"/>
          <a:ext cx="8514816" cy="1828800"/>
        </p:xfrm>
        <a:graphic>
          <a:graphicData uri="http://schemas.openxmlformats.org/drawingml/2006/table">
            <a:tbl>
              <a:tblPr/>
              <a:tblGrid>
                <a:gridCol w="4257408">
                  <a:extLst>
                    <a:ext uri="{9D8B030D-6E8A-4147-A177-3AD203B41FA5}">
                      <a16:colId xmlns:a16="http://schemas.microsoft.com/office/drawing/2014/main" val="2088543910"/>
                    </a:ext>
                  </a:extLst>
                </a:gridCol>
                <a:gridCol w="4257408">
                  <a:extLst>
                    <a:ext uri="{9D8B030D-6E8A-4147-A177-3AD203B41FA5}">
                      <a16:colId xmlns:a16="http://schemas.microsoft.com/office/drawing/2014/main" val="3756328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49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421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835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69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 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8185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6A99676-B77D-496B-AD67-9D854B6C8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29" y="921796"/>
            <a:ext cx="10096500" cy="3648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083D3-5B99-45B4-8A1B-84A9DFE441D6}"/>
              </a:ext>
            </a:extLst>
          </p:cNvPr>
          <p:cNvSpPr/>
          <p:nvPr/>
        </p:nvSpPr>
        <p:spPr>
          <a:xfrm>
            <a:off x="802835" y="0"/>
            <a:ext cx="3451665" cy="4268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Columns</a:t>
            </a:r>
          </a:p>
          <a:p>
            <a:pPr>
              <a:lnSpc>
                <a:spcPct val="250000"/>
              </a:lnSpc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4967C-6842-4E66-84FC-481A81BF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35" y="1527793"/>
            <a:ext cx="3267515" cy="3181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8D9F70-12EE-4396-8C0A-6F9E6405E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150" y="1527793"/>
            <a:ext cx="7191815" cy="333012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5C7FB7F-D79A-472F-AE65-F5F36A423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035" y="4651573"/>
            <a:ext cx="9888284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industry dominates the job market, while Healthcare and Finance also show strong hiring demand.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TCS, Accenture, and Infosys are the leading companies with the highest recruitment activity.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Hyderabad, Bengaluru, and Pune emerge as the top hiring locations, highlighting major tech hubs. </a:t>
            </a:r>
          </a:p>
        </p:txBody>
      </p:sp>
    </p:spTree>
    <p:extLst>
      <p:ext uri="{BB962C8B-B14F-4D97-AF65-F5344CB8AC3E}">
        <p14:creationId xmlns:p14="http://schemas.microsoft.com/office/powerpoint/2010/main" val="329374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e0b2cc6d2f_0_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e0b2cc6d2f_0_55"/>
          <p:cNvSpPr/>
          <p:nvPr/>
        </p:nvSpPr>
        <p:spPr>
          <a:xfrm>
            <a:off x="923400" y="854918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0b2cc6d2f_0_55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0b2cc6d2f_0_55"/>
          <p:cNvSpPr txBox="1"/>
          <p:nvPr/>
        </p:nvSpPr>
        <p:spPr>
          <a:xfrm>
            <a:off x="498010" y="654883"/>
            <a:ext cx="41226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Numerical Columns</a:t>
            </a:r>
          </a:p>
        </p:txBody>
      </p:sp>
      <p:sp>
        <p:nvSpPr>
          <p:cNvPr id="191" name="Google Shape;191;g3e0b2cc6d2f_0_55"/>
          <p:cNvSpPr/>
          <p:nvPr/>
        </p:nvSpPr>
        <p:spPr>
          <a:xfrm>
            <a:off x="687299" y="2189325"/>
            <a:ext cx="3744023" cy="19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EE692C-3448-4C72-960A-70B2427E2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4457" y="654247"/>
            <a:ext cx="4978166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salary-related features show many outliers, indicating the presence of a few high-paying jobs compared to the majority of listings.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job postings require low to mid-level experience, while very high experience requirements are rare.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are concentrated within a narrow range, showing limited variation across companies.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Posted days are mostly recent, suggesting that the dataset primarily contains newly active job postings.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5CC9F1-D8B6-4840-95F8-7A40FF3BD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00" y="1223962"/>
            <a:ext cx="6808763" cy="4600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73BEE8-4481-4617-BA4F-383C83213C10}"/>
              </a:ext>
            </a:extLst>
          </p:cNvPr>
          <p:cNvSpPr/>
          <p:nvPr/>
        </p:nvSpPr>
        <p:spPr>
          <a:xfrm>
            <a:off x="780171" y="169676"/>
            <a:ext cx="8173329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vs Numerical Columns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82E62-5EFA-4460-BF4F-0E0EC5341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1366929"/>
            <a:ext cx="3524250" cy="248761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58FA17E-7583-45EC-9029-5AADF234D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71" y="3495292"/>
            <a:ext cx="10934700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scatterplot shows a positive relationship between experience and salary, where higher experience generally leads to better salary packages.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Posted Days vs Salary graph indicates that recently posted jobs tend to offer comparatively higher salaries.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heatmap shows a very weak correlation (0.03) between company rating and salary.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experience appears to influence salary more strongly than ratings or posting duration.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F8998-9044-484F-A52B-DF1C2DD18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366929"/>
            <a:ext cx="3743325" cy="25241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A8407D-EF9D-42A5-B1A4-488B90634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25" y="1362991"/>
            <a:ext cx="3962400" cy="248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21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e0b2cc6d2f_0_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e0b2cc6d2f_0_66"/>
          <p:cNvSpPr/>
          <p:nvPr/>
        </p:nvSpPr>
        <p:spPr>
          <a:xfrm>
            <a:off x="1030941" y="1028343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0b2cc6d2f_0_66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e0b2cc6d2f_0_66"/>
          <p:cNvSpPr txBox="1"/>
          <p:nvPr/>
        </p:nvSpPr>
        <p:spPr>
          <a:xfrm>
            <a:off x="577695" y="927925"/>
            <a:ext cx="41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e0b2cc6d2f_0_66"/>
          <p:cNvSpPr/>
          <p:nvPr/>
        </p:nvSpPr>
        <p:spPr>
          <a:xfrm>
            <a:off x="687300" y="2189325"/>
            <a:ext cx="3419100" cy="2002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5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D440B-1984-4FA4-8B12-54378B802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858" y="927925"/>
            <a:ext cx="3769251" cy="301822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41712AF-617C-4834-A545-98CAB5FDB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11" y="3791686"/>
            <a:ext cx="11664503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salary distribution varies significantly across industries, with IT and Telecom showing higher salary ranges and more outliers.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Telecom industry has the highest average company ratings, while other industries maintain relatively similar ratings.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swarmplot shows that hybrid and unspecified work modes contain the majority of high-paying job opportunities.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industry type and work mode appear to influence salary levels more strongly than company ratings.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B5E1E-5E91-4CC7-A752-FCD2498B2DA4}"/>
              </a:ext>
            </a:extLst>
          </p:cNvPr>
          <p:cNvSpPr/>
          <p:nvPr/>
        </p:nvSpPr>
        <p:spPr>
          <a:xfrm>
            <a:off x="821623" y="413800"/>
            <a:ext cx="40062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vs Categorical Columns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4A98CD-3E74-496E-B9E0-8FB10DFD5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289" y="1028343"/>
            <a:ext cx="3543300" cy="3190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70331B-A9F1-446D-BFF5-7B575BE07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504" y="1028343"/>
            <a:ext cx="3638550" cy="28808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90566C-96CE-4453-A8CF-06B777E1BB90}"/>
              </a:ext>
            </a:extLst>
          </p:cNvPr>
          <p:cNvSpPr/>
          <p:nvPr/>
        </p:nvSpPr>
        <p:spPr>
          <a:xfrm>
            <a:off x="403274" y="257517"/>
            <a:ext cx="6096000" cy="498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vs Categorical columns</a:t>
            </a:r>
          </a:p>
        </p:txBody>
      </p:sp>
      <p:sp>
        <p:nvSpPr>
          <p:cNvPr id="3" name="AutoShape 2" descr="blob:https://web.whatsapp.com/bc270404-881f-4d8c-9c9a-a7f11e628109">
            <a:extLst>
              <a:ext uri="{FF2B5EF4-FFF2-40B4-BE49-F238E27FC236}">
                <a16:creationId xmlns:a16="http://schemas.microsoft.com/office/drawing/2014/main" id="{27872B14-667B-4AE9-83BD-9BF3C3C5E1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3A8EC-CB4B-4E01-B809-E2BF641ADFE7}"/>
              </a:ext>
            </a:extLst>
          </p:cNvPr>
          <p:cNvSpPr/>
          <p:nvPr/>
        </p:nvSpPr>
        <p:spPr>
          <a:xfrm>
            <a:off x="895643" y="2750685"/>
            <a:ext cx="10503291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7D792-B5E2-4E1F-AE86-1F3B05210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4235"/>
            <a:ext cx="7081399" cy="3054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DD7262-7264-4A1D-A624-408498A8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02532"/>
            <a:ext cx="7454705" cy="232106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64716CA-6F42-4C49-9270-B8D081486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7265" y="909027"/>
            <a:ext cx="5147312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Company vs Industry graph shows that large companies mainly dominate specific industries, especially IT and Manufacturing sectors.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Companies like Accenture, TCS, and Infosys contribute heavily to IT-related job opportunities.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Industry vs Work Mode graph indicates that most industries do not clearly specify work mode in job postings.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roles are most commonly observed in the IT sector, highlighting greater workplace flexibility in tech industries. </a:t>
            </a:r>
          </a:p>
        </p:txBody>
      </p:sp>
    </p:spTree>
    <p:extLst>
      <p:ext uri="{BB962C8B-B14F-4D97-AF65-F5344CB8AC3E}">
        <p14:creationId xmlns:p14="http://schemas.microsoft.com/office/powerpoint/2010/main" val="3684231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e0b2cc6d2f_0_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e0b2cc6d2f_0_78"/>
          <p:cNvSpPr/>
          <p:nvPr/>
        </p:nvSpPr>
        <p:spPr>
          <a:xfrm>
            <a:off x="1030941" y="1028343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0b2cc6d2f_0_78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0b2cc6d2f_0_78"/>
          <p:cNvSpPr txBox="1"/>
          <p:nvPr/>
        </p:nvSpPr>
        <p:spPr>
          <a:xfrm>
            <a:off x="577695" y="927925"/>
            <a:ext cx="41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e0b2cc6d2f_0_78"/>
          <p:cNvSpPr/>
          <p:nvPr/>
        </p:nvSpPr>
        <p:spPr>
          <a:xfrm>
            <a:off x="687300" y="2189325"/>
            <a:ext cx="30735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FB8657-936A-400C-A82B-5855FAA75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00" y="514015"/>
            <a:ext cx="6705563" cy="5998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and maximum experience show a very strong positive correlation (0.94), indicating consistent experience requirements across job roles.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Salary has a strong positive relationship with experience, especially with maximum experience (0.70).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salary and maximum salary are moderately correlated, meaning higher base salaries usually lead to higher salary ranges.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 ratings have very weak correlation with salary, suggesting ratings do not strongly influence pay.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Posted days show minimal correlation with other variables, indicating posting duration has little impact on salary trends.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experience-related features are the strongest factors influencing salary in the dataset.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7BABB1-5791-4114-B459-C2FB931E1743}"/>
              </a:ext>
            </a:extLst>
          </p:cNvPr>
          <p:cNvSpPr/>
          <p:nvPr/>
        </p:nvSpPr>
        <p:spPr>
          <a:xfrm>
            <a:off x="457790" y="386224"/>
            <a:ext cx="3484672" cy="661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77E4C1-6EA3-44DF-B17F-02509A412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235725"/>
            <a:ext cx="5372100" cy="45944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C9E71C-4EB1-48C6-9EE8-4E0DE57206BD}"/>
              </a:ext>
            </a:extLst>
          </p:cNvPr>
          <p:cNvSpPr/>
          <p:nvPr/>
        </p:nvSpPr>
        <p:spPr>
          <a:xfrm>
            <a:off x="698694" y="99545"/>
            <a:ext cx="8076815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/ Statistical Analysis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783FE6-89D4-4592-882D-F53F3E5967C8}"/>
              </a:ext>
            </a:extLst>
          </p:cNvPr>
          <p:cNvSpPr/>
          <p:nvPr/>
        </p:nvSpPr>
        <p:spPr>
          <a:xfrm>
            <a:off x="698695" y="760752"/>
            <a:ext cx="11329182" cy="6974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Objective</a:t>
            </a:r>
          </a:p>
          <a:p>
            <a:pPr>
              <a:lnSpc>
                <a:spcPct val="150000"/>
              </a:lnSpc>
            </a:pPr>
            <a:r>
              <a:rPr lang="en-US" dirty="0"/>
              <a:t>To statistically verify whether factors like experience, industry, ratings, and work mode significantly influence salary trends in the job market dataset.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Hypothesis 1: Experience vs Salary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P-value &lt; 0.05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Reject H0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Experience significantly affects salary, and higher experience generally results in better salary packages.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Hypothesis 2: Industry vs Salary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&lt; 0.05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industries offer significantly different salary ranges, with IT and Telecom showing higher salaries.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3: Work Mode vs Salary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&lt; 0.05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mode significantly affects salary distribution, with hybrid and onsite roles generally offering higher salary packages compared to remote roles.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568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541CF3-0B57-4E6E-9838-C7A4C2FDF888}"/>
              </a:ext>
            </a:extLst>
          </p:cNvPr>
          <p:cNvSpPr/>
          <p:nvPr/>
        </p:nvSpPr>
        <p:spPr>
          <a:xfrm>
            <a:off x="423080" y="673501"/>
            <a:ext cx="11109278" cy="5074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industry dominates the job market with the highest number of job openings among all sectors.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Hyderabad, Bengaluru, and Pune emerged as the leading hiring locations, highlighting major tech hubs.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has a strong positive relationship with salary, indicating that higher experience leads to better pay packages.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job postings fall under hybrid or unspecified work modes, while fully remote roles remain limited.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IT service companies such as TCS, Accenture, and Infosys contribute significantly to recruitment demand.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type and experience were identified as the strongest factors influencing salary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ratings showed very weak correlation with salary, suggesting ratings do not strongly affect compensation.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Recently posted jobs tend to attract higher engagement and often offer competitive salary ranges.</a:t>
            </a:r>
          </a:p>
        </p:txBody>
      </p:sp>
    </p:spTree>
    <p:extLst>
      <p:ext uri="{BB962C8B-B14F-4D97-AF65-F5344CB8AC3E}">
        <p14:creationId xmlns:p14="http://schemas.microsoft.com/office/powerpoint/2010/main" val="207692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 txBox="1"/>
          <p:nvPr/>
        </p:nvSpPr>
        <p:spPr>
          <a:xfrm flipH="1">
            <a:off x="6526989" y="849379"/>
            <a:ext cx="499109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  Challenges Faced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185A4C-8165-4470-98C0-3623EE605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225" y="213425"/>
            <a:ext cx="3743332" cy="4461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webpage loading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salary values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text formatting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Selenium delays/timeouts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complexity </a:t>
            </a:r>
          </a:p>
        </p:txBody>
      </p:sp>
      <p:pic>
        <p:nvPicPr>
          <p:cNvPr id="11267" name="Picture 3" descr="Web Scraping in the Era of Big Data: Opportunities and Challenges | by Mary D'souza | Medium">
            <a:extLst>
              <a:ext uri="{FF2B5EF4-FFF2-40B4-BE49-F238E27FC236}">
                <a16:creationId xmlns:a16="http://schemas.microsoft.com/office/drawing/2014/main" id="{C99413F7-8AEB-4ED2-AD47-548DE8C84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84" y="655093"/>
            <a:ext cx="6289805" cy="517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4"/>
          <p:cNvSpPr txBox="1"/>
          <p:nvPr/>
        </p:nvSpPr>
        <p:spPr>
          <a:xfrm>
            <a:off x="1272849" y="1395229"/>
            <a:ext cx="9573341" cy="5093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extracted and analyzed job market data using web scraping and EDA techniques.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helped uncover: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trends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patterns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requirements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In-demand skills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data analytics can support better career and hiring decisions.</a:t>
            </a:r>
          </a:p>
          <a:p>
            <a:pPr lvl="0">
              <a:lnSpc>
                <a:spcPct val="150000"/>
              </a:lnSpc>
              <a:spcBef>
                <a:spcPts val="1200"/>
              </a:spcBef>
            </a:pPr>
            <a:endParaRPr sz="1800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1160308" y="861048"/>
            <a:ext cx="322729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Conclusion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 txBox="1"/>
          <p:nvPr/>
        </p:nvSpPr>
        <p:spPr>
          <a:xfrm flipH="1">
            <a:off x="789789" y="254647"/>
            <a:ext cx="10272657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lvl="0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Future Enhancements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51EF44-A331-4203-9341-BACD9AB03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03" y="644061"/>
            <a:ext cx="4709944" cy="3907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interactive dashboard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for salary prediction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daily job tracking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as web application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real-time analytics </a:t>
            </a:r>
          </a:p>
        </p:txBody>
      </p:sp>
      <p:pic>
        <p:nvPicPr>
          <p:cNvPr id="12291" name="Picture 3" descr="Data Analysis and Statistics for Business Marketing Scientists Using Dashboards to Visualize Graphs and Insights for Strategic Planning.">
            <a:extLst>
              <a:ext uri="{FF2B5EF4-FFF2-40B4-BE49-F238E27FC236}">
                <a16:creationId xmlns:a16="http://schemas.microsoft.com/office/drawing/2014/main" id="{95848444-4003-49BB-A53B-AD0BDF84B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247" y="793236"/>
            <a:ext cx="6095999" cy="439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202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/>
          <p:nvPr/>
        </p:nvSpPr>
        <p:spPr>
          <a:xfrm>
            <a:off x="6166906" y="1843950"/>
            <a:ext cx="2995833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4" name="Picture 2" descr="Question ppt powerpoint presentation file pictures Slide01">
            <a:extLst>
              <a:ext uri="{FF2B5EF4-FFF2-40B4-BE49-F238E27FC236}">
                <a16:creationId xmlns:a16="http://schemas.microsoft.com/office/drawing/2014/main" id="{9C5CDADC-0223-49E4-B1C1-A5DE65A3F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16" y="716106"/>
            <a:ext cx="10508568" cy="542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6"/>
          <p:cNvPicPr preferRelativeResize="0"/>
          <p:nvPr/>
        </p:nvPicPr>
        <p:blipFill rotWithShape="1">
          <a:blip r:embed="rId3">
            <a:alphaModFix/>
          </a:blip>
          <a:srcRect l="608" t="2063"/>
          <a:stretch/>
        </p:blipFill>
        <p:spPr>
          <a:xfrm>
            <a:off x="197224" y="168117"/>
            <a:ext cx="11788588" cy="5953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</TotalTime>
  <Words>1063</Words>
  <Application>Microsoft Office PowerPoint</Application>
  <PresentationFormat>Widescreen</PresentationFormat>
  <Paragraphs>195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Arial</vt:lpstr>
      <vt:lpstr>Lato</vt:lpstr>
      <vt:lpstr>Calibri Light</vt:lpstr>
      <vt:lpstr>Times New Roman</vt:lpstr>
      <vt:lpstr>Office Theme</vt:lpstr>
      <vt:lpstr>`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Admin</cp:lastModifiedBy>
  <cp:revision>65</cp:revision>
  <dcterms:created xsi:type="dcterms:W3CDTF">2026-03-01T13:58:55Z</dcterms:created>
  <dcterms:modified xsi:type="dcterms:W3CDTF">2026-05-29T08:08:28Z</dcterms:modified>
</cp:coreProperties>
</file>